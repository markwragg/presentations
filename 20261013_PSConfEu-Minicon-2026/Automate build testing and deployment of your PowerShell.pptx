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Lst>
  <p:notesMasterIdLst>
    <p:notesMasterId r:id="rId19"/>
  </p:notesMasterIdLst>
  <p:handoutMasterIdLst>
    <p:handoutMasterId r:id="rId20"/>
  </p:handoutMasterIdLst>
  <p:sldIdLst>
    <p:sldId id="273" r:id="rId8"/>
    <p:sldId id="261" r:id="rId9"/>
    <p:sldId id="267" r:id="rId10"/>
    <p:sldId id="274" r:id="rId11"/>
    <p:sldId id="275" r:id="rId12"/>
    <p:sldId id="276" r:id="rId13"/>
    <p:sldId id="263" r:id="rId14"/>
    <p:sldId id="260" r:id="rId15"/>
    <p:sldId id="266"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ection>
        <p14:section name="The session" id="{9BCE8471-468A-4538-82B3-E4E62B0A593E}">
          <p14:sldIdLst>
            <p14:sldId id="273"/>
            <p14:sldId id="261"/>
            <p14:sldId id="267"/>
            <p14:sldId id="274"/>
            <p14:sldId id="275"/>
            <p14:sldId id="276"/>
            <p14:sldId id="263"/>
            <p14:sldId id="260"/>
            <p14:sldId id="266"/>
            <p14:sldId id="264"/>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6297"/>
    <a:srgbClr val="000000"/>
    <a:srgbClr val="3B2B46"/>
    <a:srgbClr val="FFFFFF"/>
    <a:srgbClr val="346296"/>
    <a:srgbClr val="E646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EDBAC0-788B-4D13-9500-E820E6F44A0C}" v="28" dt="2026-10-12T12:13:07.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7" autoAdjust="0"/>
    <p:restoredTop sz="68765" autoAdjust="0"/>
  </p:normalViewPr>
  <p:slideViewPr>
    <p:cSldViewPr snapToGrid="0">
      <p:cViewPr>
        <p:scale>
          <a:sx n="79" d="100"/>
          <a:sy n="79" d="100"/>
        </p:scale>
        <p:origin x="1782" y="5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200" d="100"/>
          <a:sy n="200" d="100"/>
        </p:scale>
        <p:origin x="1392" y="1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Wragg" userId="877b6ebb540e684e" providerId="LiveId" clId="{EC3E35DB-DCDB-486C-AA1B-6F3507A85A4A}"/>
    <pc:docChg chg="undo custSel addSld modSld sldOrd modSection">
      <pc:chgData name="Mark Wragg" userId="877b6ebb540e684e" providerId="LiveId" clId="{EC3E35DB-DCDB-486C-AA1B-6F3507A85A4A}" dt="2026-10-12T19:59:01.529" v="15052" actId="20577"/>
      <pc:docMkLst>
        <pc:docMk/>
      </pc:docMkLst>
      <pc:sldChg chg="addSp delSp modSp mod modNotesTx">
        <pc:chgData name="Mark Wragg" userId="877b6ebb540e684e" providerId="LiveId" clId="{EC3E35DB-DCDB-486C-AA1B-6F3507A85A4A}" dt="2026-10-12T19:59:01.529" v="15052" actId="20577"/>
        <pc:sldMkLst>
          <pc:docMk/>
          <pc:sldMk cId="1101361508" sldId="260"/>
        </pc:sldMkLst>
        <pc:spChg chg="mod">
          <ac:chgData name="Mark Wragg" userId="877b6ebb540e684e" providerId="LiveId" clId="{EC3E35DB-DCDB-486C-AA1B-6F3507A85A4A}" dt="2026-10-11T13:22:56.663" v="2074" actId="20577"/>
          <ac:spMkLst>
            <pc:docMk/>
            <pc:sldMk cId="1101361508" sldId="260"/>
            <ac:spMk id="2" creationId="{5191E0F2-FE77-51ED-3F72-223B58926E74}"/>
          </ac:spMkLst>
        </pc:spChg>
        <pc:spChg chg="mod">
          <ac:chgData name="Mark Wragg" userId="877b6ebb540e684e" providerId="LiveId" clId="{EC3E35DB-DCDB-486C-AA1B-6F3507A85A4A}" dt="2026-10-12T17:10:51.143" v="15027" actId="20577"/>
          <ac:spMkLst>
            <pc:docMk/>
            <pc:sldMk cId="1101361508" sldId="260"/>
            <ac:spMk id="3" creationId="{07D5023A-BA6F-B725-CF78-FD889E577EA6}"/>
          </ac:spMkLst>
        </pc:spChg>
        <pc:picChg chg="add del mod ord modCrop">
          <ac:chgData name="Mark Wragg" userId="877b6ebb540e684e" providerId="LiveId" clId="{EC3E35DB-DCDB-486C-AA1B-6F3507A85A4A}" dt="2026-10-11T13:37:37.080" v="3231" actId="478"/>
          <ac:picMkLst>
            <pc:docMk/>
            <pc:sldMk cId="1101361508" sldId="260"/>
            <ac:picMk id="5" creationId="{AC89224D-E52B-033F-24DE-9E154C79845D}"/>
          </ac:picMkLst>
        </pc:picChg>
      </pc:sldChg>
      <pc:sldChg chg="modNotesTx">
        <pc:chgData name="Mark Wragg" userId="877b6ebb540e684e" providerId="LiveId" clId="{EC3E35DB-DCDB-486C-AA1B-6F3507A85A4A}" dt="2026-10-12T11:36:29.808" v="4567" actId="20577"/>
        <pc:sldMkLst>
          <pc:docMk/>
          <pc:sldMk cId="3984835757" sldId="261"/>
        </pc:sldMkLst>
      </pc:sldChg>
      <pc:sldChg chg="addSp delSp modSp mod ord modClrScheme chgLayout modNotesTx">
        <pc:chgData name="Mark Wragg" userId="877b6ebb540e684e" providerId="LiveId" clId="{EC3E35DB-DCDB-486C-AA1B-6F3507A85A4A}" dt="2026-10-12T11:53:02.856" v="10574" actId="20577"/>
        <pc:sldMkLst>
          <pc:docMk/>
          <pc:sldMk cId="3422363708" sldId="263"/>
        </pc:sldMkLst>
        <pc:spChg chg="mod ord">
          <ac:chgData name="Mark Wragg" userId="877b6ebb540e684e" providerId="LiveId" clId="{EC3E35DB-DCDB-486C-AA1B-6F3507A85A4A}" dt="2026-10-11T13:37:46.321" v="3233" actId="700"/>
          <ac:spMkLst>
            <pc:docMk/>
            <pc:sldMk cId="3422363708" sldId="263"/>
            <ac:spMk id="2" creationId="{D0ED5B32-5508-746F-68D8-7CD5B87075B3}"/>
          </ac:spMkLst>
        </pc:spChg>
        <pc:spChg chg="mod ord">
          <ac:chgData name="Mark Wragg" userId="877b6ebb540e684e" providerId="LiveId" clId="{EC3E35DB-DCDB-486C-AA1B-6F3507A85A4A}" dt="2026-10-11T13:42:23.179" v="3483" actId="20577"/>
          <ac:spMkLst>
            <pc:docMk/>
            <pc:sldMk cId="3422363708" sldId="263"/>
            <ac:spMk id="3" creationId="{66E58DE9-2079-E03F-78A8-7FE2D8B2F0E7}"/>
          </ac:spMkLst>
        </pc:spChg>
        <pc:spChg chg="add mod ord">
          <ac:chgData name="Mark Wragg" userId="877b6ebb540e684e" providerId="LiveId" clId="{EC3E35DB-DCDB-486C-AA1B-6F3507A85A4A}" dt="2026-10-11T13:42:14.081" v="3448" actId="14100"/>
          <ac:spMkLst>
            <pc:docMk/>
            <pc:sldMk cId="3422363708" sldId="263"/>
            <ac:spMk id="6" creationId="{E98EAA8D-A24D-DE69-9420-BB3C77138B4A}"/>
          </ac:spMkLst>
        </pc:spChg>
        <pc:picChg chg="add del mod">
          <ac:chgData name="Mark Wragg" userId="877b6ebb540e684e" providerId="LiveId" clId="{EC3E35DB-DCDB-486C-AA1B-6F3507A85A4A}" dt="2026-10-11T13:39:01.008" v="3263" actId="478"/>
          <ac:picMkLst>
            <pc:docMk/>
            <pc:sldMk cId="3422363708" sldId="263"/>
            <ac:picMk id="5" creationId="{D1EF78B1-B9DF-8D33-6031-4123CFCF953D}"/>
          </ac:picMkLst>
        </pc:picChg>
        <pc:picChg chg="add del mod">
          <ac:chgData name="Mark Wragg" userId="877b6ebb540e684e" providerId="LiveId" clId="{EC3E35DB-DCDB-486C-AA1B-6F3507A85A4A}" dt="2026-10-11T13:40:11.123" v="3278" actId="478"/>
          <ac:picMkLst>
            <pc:docMk/>
            <pc:sldMk cId="3422363708" sldId="263"/>
            <ac:picMk id="7" creationId="{4479DF37-756A-F01B-FBF6-FC7EA1547853}"/>
          </ac:picMkLst>
        </pc:picChg>
        <pc:picChg chg="add mod ord modCrop">
          <ac:chgData name="Mark Wragg" userId="877b6ebb540e684e" providerId="LiveId" clId="{EC3E35DB-DCDB-486C-AA1B-6F3507A85A4A}" dt="2026-10-11T13:42:04.170" v="3420" actId="167"/>
          <ac:picMkLst>
            <pc:docMk/>
            <pc:sldMk cId="3422363708" sldId="263"/>
            <ac:picMk id="8" creationId="{E003912F-7441-8A18-250C-848BBBD74475}"/>
          </ac:picMkLst>
        </pc:picChg>
        <pc:picChg chg="add mod ord modCrop">
          <ac:chgData name="Mark Wragg" userId="877b6ebb540e684e" providerId="LiveId" clId="{EC3E35DB-DCDB-486C-AA1B-6F3507A85A4A}" dt="2026-10-11T13:42:45.548" v="3486" actId="1076"/>
          <ac:picMkLst>
            <pc:docMk/>
            <pc:sldMk cId="3422363708" sldId="263"/>
            <ac:picMk id="10" creationId="{FAA2DCA7-F65C-5BDA-4BC4-D84CACEEE9E5}"/>
          </ac:picMkLst>
        </pc:picChg>
      </pc:sldChg>
      <pc:sldChg chg="modSp mod modNotesTx">
        <pc:chgData name="Mark Wragg" userId="877b6ebb540e684e" providerId="LiveId" clId="{EC3E35DB-DCDB-486C-AA1B-6F3507A85A4A}" dt="2026-10-12T12:06:26.376" v="14964" actId="20577"/>
        <pc:sldMkLst>
          <pc:docMk/>
          <pc:sldMk cId="3317259441" sldId="264"/>
        </pc:sldMkLst>
        <pc:spChg chg="mod">
          <ac:chgData name="Mark Wragg" userId="877b6ebb540e684e" providerId="LiveId" clId="{EC3E35DB-DCDB-486C-AA1B-6F3507A85A4A}" dt="2026-10-11T13:23:45.977" v="2173" actId="20577"/>
          <ac:spMkLst>
            <pc:docMk/>
            <pc:sldMk cId="3317259441" sldId="264"/>
            <ac:spMk id="4" creationId="{2B167248-C99C-E892-89E1-4CBB81F02F90}"/>
          </ac:spMkLst>
        </pc:spChg>
        <pc:spChg chg="mod">
          <ac:chgData name="Mark Wragg" userId="877b6ebb540e684e" providerId="LiveId" clId="{EC3E35DB-DCDB-486C-AA1B-6F3507A85A4A}" dt="2026-10-11T13:23:40.421" v="2172" actId="20577"/>
          <ac:spMkLst>
            <pc:docMk/>
            <pc:sldMk cId="3317259441" sldId="264"/>
            <ac:spMk id="5" creationId="{2CACAFC7-78CB-98F9-FEF3-D3E8C9FF6E6F}"/>
          </ac:spMkLst>
        </pc:spChg>
      </pc:sldChg>
      <pc:sldChg chg="modSp mod modNotesTx">
        <pc:chgData name="Mark Wragg" userId="877b6ebb540e684e" providerId="LiveId" clId="{EC3E35DB-DCDB-486C-AA1B-6F3507A85A4A}" dt="2026-10-12T12:05:35.444" v="14691" actId="20577"/>
        <pc:sldMkLst>
          <pc:docMk/>
          <pc:sldMk cId="2961006699" sldId="266"/>
        </pc:sldMkLst>
        <pc:spChg chg="mod">
          <ac:chgData name="Mark Wragg" userId="877b6ebb540e684e" providerId="LiveId" clId="{EC3E35DB-DCDB-486C-AA1B-6F3507A85A4A}" dt="2026-10-11T13:43:37.729" v="3513" actId="20577"/>
          <ac:spMkLst>
            <pc:docMk/>
            <pc:sldMk cId="2961006699" sldId="266"/>
            <ac:spMk id="2" creationId="{174E053C-741E-8349-0EAA-61BB90AA5C8A}"/>
          </ac:spMkLst>
        </pc:spChg>
        <pc:spChg chg="mod">
          <ac:chgData name="Mark Wragg" userId="877b6ebb540e684e" providerId="LiveId" clId="{EC3E35DB-DCDB-486C-AA1B-6F3507A85A4A}" dt="2026-10-11T13:46:41.972" v="3971" actId="6549"/>
          <ac:spMkLst>
            <pc:docMk/>
            <pc:sldMk cId="2961006699" sldId="266"/>
            <ac:spMk id="3" creationId="{D7E72C65-167D-1927-2A32-0E6E760ABC81}"/>
          </ac:spMkLst>
        </pc:spChg>
      </pc:sldChg>
      <pc:sldChg chg="addSp delSp modSp mod modNotesTx">
        <pc:chgData name="Mark Wragg" userId="877b6ebb540e684e" providerId="LiveId" clId="{EC3E35DB-DCDB-486C-AA1B-6F3507A85A4A}" dt="2026-10-12T11:41:03.065" v="5819" actId="20577"/>
        <pc:sldMkLst>
          <pc:docMk/>
          <pc:sldMk cId="751095604" sldId="267"/>
        </pc:sldMkLst>
        <pc:spChg chg="mod">
          <ac:chgData name="Mark Wragg" userId="877b6ebb540e684e" providerId="LiveId" clId="{EC3E35DB-DCDB-486C-AA1B-6F3507A85A4A}" dt="2026-10-08T13:50:04.364" v="65" actId="20577"/>
          <ac:spMkLst>
            <pc:docMk/>
            <pc:sldMk cId="751095604" sldId="267"/>
            <ac:spMk id="2" creationId="{B63F84C9-7486-D81C-EDE7-12CE856D5B81}"/>
          </ac:spMkLst>
        </pc:spChg>
        <pc:spChg chg="mod">
          <ac:chgData name="Mark Wragg" userId="877b6ebb540e684e" providerId="LiveId" clId="{EC3E35DB-DCDB-486C-AA1B-6F3507A85A4A}" dt="2026-10-08T15:40:32.862" v="1742"/>
          <ac:spMkLst>
            <pc:docMk/>
            <pc:sldMk cId="751095604" sldId="267"/>
            <ac:spMk id="5" creationId="{93312970-1382-905E-DF3A-5D367E6E7736}"/>
          </ac:spMkLst>
        </pc:spChg>
        <pc:spChg chg="add mod">
          <ac:chgData name="Mark Wragg" userId="877b6ebb540e684e" providerId="LiveId" clId="{EC3E35DB-DCDB-486C-AA1B-6F3507A85A4A}" dt="2026-10-12T11:40:05.528" v="5670" actId="27636"/>
          <ac:spMkLst>
            <pc:docMk/>
            <pc:sldMk cId="751095604" sldId="267"/>
            <ac:spMk id="16" creationId="{E78FE82B-A89D-DB51-32E3-C3B67A41185E}"/>
          </ac:spMkLst>
        </pc:spChg>
        <pc:picChg chg="add mod">
          <ac:chgData name="Mark Wragg" userId="877b6ebb540e684e" providerId="LiveId" clId="{EC3E35DB-DCDB-486C-AA1B-6F3507A85A4A}" dt="2026-10-08T15:45:46.684" v="1788" actId="14861"/>
          <ac:picMkLst>
            <pc:docMk/>
            <pc:sldMk cId="751095604" sldId="267"/>
            <ac:picMk id="6" creationId="{8360E885-7288-04E3-7C27-50B134A63CCC}"/>
          </ac:picMkLst>
        </pc:picChg>
        <pc:picChg chg="add mod">
          <ac:chgData name="Mark Wragg" userId="877b6ebb540e684e" providerId="LiveId" clId="{EC3E35DB-DCDB-486C-AA1B-6F3507A85A4A}" dt="2026-10-08T15:40:20.923" v="1739" actId="1076"/>
          <ac:picMkLst>
            <pc:docMk/>
            <pc:sldMk cId="751095604" sldId="267"/>
            <ac:picMk id="14" creationId="{265FB41A-0C28-247E-9B4A-D69074B6773E}"/>
          </ac:picMkLst>
        </pc:picChg>
        <pc:picChg chg="add mod">
          <ac:chgData name="Mark Wragg" userId="877b6ebb540e684e" providerId="LiveId" clId="{EC3E35DB-DCDB-486C-AA1B-6F3507A85A4A}" dt="2026-10-08T17:39:24.341" v="1810" actId="14100"/>
          <ac:picMkLst>
            <pc:docMk/>
            <pc:sldMk cId="751095604" sldId="267"/>
            <ac:picMk id="20" creationId="{889368CE-B503-8AF7-F367-6EB7F315A6C1}"/>
          </ac:picMkLst>
        </pc:picChg>
      </pc:sldChg>
      <pc:sldChg chg="modSp mod modNotesTx">
        <pc:chgData name="Mark Wragg" userId="877b6ebb540e684e" providerId="LiveId" clId="{EC3E35DB-DCDB-486C-AA1B-6F3507A85A4A}" dt="2026-10-12T11:36:13.704" v="4498" actId="20577"/>
        <pc:sldMkLst>
          <pc:docMk/>
          <pc:sldMk cId="2193816839" sldId="273"/>
        </pc:sldMkLst>
        <pc:spChg chg="mod">
          <ac:chgData name="Mark Wragg" userId="877b6ebb540e684e" providerId="LiveId" clId="{EC3E35DB-DCDB-486C-AA1B-6F3507A85A4A}" dt="2026-10-08T13:49:11.937" v="35" actId="20577"/>
          <ac:spMkLst>
            <pc:docMk/>
            <pc:sldMk cId="2193816839" sldId="273"/>
            <ac:spMk id="3" creationId="{FB22B504-146E-1966-17CE-BB797BC6083D}"/>
          </ac:spMkLst>
        </pc:spChg>
        <pc:spChg chg="mod">
          <ac:chgData name="Mark Wragg" userId="877b6ebb540e684e" providerId="LiveId" clId="{EC3E35DB-DCDB-486C-AA1B-6F3507A85A4A}" dt="2026-10-08T13:49:44.616" v="55" actId="404"/>
          <ac:spMkLst>
            <pc:docMk/>
            <pc:sldMk cId="2193816839" sldId="273"/>
            <ac:spMk id="4" creationId="{0E2348EB-2258-5792-670F-322202E630B4}"/>
          </ac:spMkLst>
        </pc:spChg>
      </pc:sldChg>
      <pc:sldChg chg="modSp add mod ord modNotesTx">
        <pc:chgData name="Mark Wragg" userId="877b6ebb540e684e" providerId="LiveId" clId="{EC3E35DB-DCDB-486C-AA1B-6F3507A85A4A}" dt="2026-10-12T12:09:45.650" v="14974" actId="20577"/>
        <pc:sldMkLst>
          <pc:docMk/>
          <pc:sldMk cId="4078026830" sldId="274"/>
        </pc:sldMkLst>
        <pc:spChg chg="mod">
          <ac:chgData name="Mark Wragg" userId="877b6ebb540e684e" providerId="LiveId" clId="{EC3E35DB-DCDB-486C-AA1B-6F3507A85A4A}" dt="2026-10-11T13:24:46.524" v="2182" actId="20577"/>
          <ac:spMkLst>
            <pc:docMk/>
            <pc:sldMk cId="4078026830" sldId="274"/>
            <ac:spMk id="2" creationId="{F2FD8182-E232-D2D2-12C0-B40B01B6A903}"/>
          </ac:spMkLst>
        </pc:spChg>
        <pc:spChg chg="mod">
          <ac:chgData name="Mark Wragg" userId="877b6ebb540e684e" providerId="LiveId" clId="{EC3E35DB-DCDB-486C-AA1B-6F3507A85A4A}" dt="2026-10-11T13:47:15.717" v="3987" actId="12"/>
          <ac:spMkLst>
            <pc:docMk/>
            <pc:sldMk cId="4078026830" sldId="274"/>
            <ac:spMk id="3" creationId="{A3489024-4CEE-583B-E55C-F3AD9782C9A4}"/>
          </ac:spMkLst>
        </pc:spChg>
      </pc:sldChg>
      <pc:sldChg chg="modSp add mod ord modNotesTx">
        <pc:chgData name="Mark Wragg" userId="877b6ebb540e684e" providerId="LiveId" clId="{EC3E35DB-DCDB-486C-AA1B-6F3507A85A4A}" dt="2026-10-12T12:13:07.147" v="14979"/>
        <pc:sldMkLst>
          <pc:docMk/>
          <pc:sldMk cId="2905144639" sldId="275"/>
        </pc:sldMkLst>
        <pc:spChg chg="mod">
          <ac:chgData name="Mark Wragg" userId="877b6ebb540e684e" providerId="LiveId" clId="{EC3E35DB-DCDB-486C-AA1B-6F3507A85A4A}" dt="2026-10-11T13:25:10.801" v="2233" actId="20577"/>
          <ac:spMkLst>
            <pc:docMk/>
            <pc:sldMk cId="2905144639" sldId="275"/>
            <ac:spMk id="2" creationId="{ED85F36F-4A0C-F46D-1A1F-3232DAC14D7A}"/>
          </ac:spMkLst>
        </pc:spChg>
        <pc:spChg chg="mod">
          <ac:chgData name="Mark Wragg" userId="877b6ebb540e684e" providerId="LiveId" clId="{EC3E35DB-DCDB-486C-AA1B-6F3507A85A4A}" dt="2026-10-12T12:13:07.147" v="14979"/>
          <ac:spMkLst>
            <pc:docMk/>
            <pc:sldMk cId="2905144639" sldId="275"/>
            <ac:spMk id="3" creationId="{F416D7A4-E172-A7B7-8937-DF98EBFB49F6}"/>
          </ac:spMkLst>
        </pc:spChg>
      </pc:sldChg>
      <pc:sldChg chg="modSp add mod modNotesTx">
        <pc:chgData name="Mark Wragg" userId="877b6ebb540e684e" providerId="LiveId" clId="{EC3E35DB-DCDB-486C-AA1B-6F3507A85A4A}" dt="2026-10-12T11:49:11.013" v="8971" actId="20577"/>
        <pc:sldMkLst>
          <pc:docMk/>
          <pc:sldMk cId="1250294214" sldId="276"/>
        </pc:sldMkLst>
        <pc:spChg chg="mod">
          <ac:chgData name="Mark Wragg" userId="877b6ebb540e684e" providerId="LiveId" clId="{EC3E35DB-DCDB-486C-AA1B-6F3507A85A4A}" dt="2026-10-11T13:34:38.039" v="2825" actId="20577"/>
          <ac:spMkLst>
            <pc:docMk/>
            <pc:sldMk cId="1250294214" sldId="276"/>
            <ac:spMk id="2" creationId="{AE5642C5-927E-4B50-E8D3-CCCF2A20EB99}"/>
          </ac:spMkLst>
        </pc:spChg>
        <pc:spChg chg="mod">
          <ac:chgData name="Mark Wragg" userId="877b6ebb540e684e" providerId="LiveId" clId="{EC3E35DB-DCDB-486C-AA1B-6F3507A85A4A}" dt="2026-10-11T13:36:56.360" v="3215" actId="27636"/>
          <ac:spMkLst>
            <pc:docMk/>
            <pc:sldMk cId="1250294214" sldId="276"/>
            <ac:spMk id="3" creationId="{FC602573-9112-7CD6-94EE-AC30D502CBD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08/10/2026</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08/10/2026</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Thanks for joining me</a:t>
            </a:r>
          </a:p>
          <a:p>
            <a:endParaRPr lang="en-GB" dirty="0"/>
          </a:p>
          <a:p>
            <a:r>
              <a:rPr lang="en-GB" dirty="0"/>
              <a:t>Today we’re going to be talking about build pipelines for PowerShell, why that matters and still matters in the age of AI</a:t>
            </a:r>
          </a:p>
          <a:p>
            <a:endParaRPr lang="en-GB" dirty="0"/>
          </a:p>
          <a:p>
            <a:r>
              <a:rPr lang="en-GB" dirty="0"/>
              <a:t>I personally use Azure DevOps which is what I’m going to demo today, but there are lots of ways to automate the build and deployment of PowerShell, and most of the concepts I talk about today can be easily run on any of the major build platforms.</a:t>
            </a:r>
          </a:p>
        </p:txBody>
      </p:sp>
      <p:sp>
        <p:nvSpPr>
          <p:cNvPr id="4" name="Slide Number Placeholder 3"/>
          <p:cNvSpPr>
            <a:spLocks noGrp="1"/>
          </p:cNvSpPr>
          <p:nvPr>
            <p:ph type="sldNum" sz="quarter" idx="5"/>
          </p:nvPr>
        </p:nvSpPr>
        <p:spPr/>
        <p:txBody>
          <a:bodyPr/>
          <a:lstStyle/>
          <a:p>
            <a:fld id="{A7839206-A81D-4F76-8486-302187992F73}" type="slidenum">
              <a:rPr lang="en-GB" smtClean="0"/>
              <a:t>1</a:t>
            </a:fld>
            <a:endParaRPr lang="en-GB"/>
          </a:p>
        </p:txBody>
      </p:sp>
    </p:spTree>
    <p:extLst>
      <p:ext uri="{BB962C8B-B14F-4D97-AF65-F5344CB8AC3E}">
        <p14:creationId xmlns:p14="http://schemas.microsoft.com/office/powerpoint/2010/main" val="2179592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GB"/>
          </a:p>
        </p:txBody>
      </p:sp>
      <p:sp>
        <p:nvSpPr>
          <p:cNvPr id="3" name="Espace réservé des notes 2"/>
          <p:cNvSpPr>
            <a:spLocks noGrp="1"/>
          </p:cNvSpPr>
          <p:nvPr>
            <p:ph type="body" idx="1"/>
          </p:nvPr>
        </p:nvSpPr>
        <p:spPr/>
        <p:txBody>
          <a:bodyPr/>
          <a:lstStyle/>
          <a:p>
            <a:r>
              <a:rPr lang="en-GB" dirty="0"/>
              <a:t>Quick thank you to our sponsors, not that they’re paying me </a:t>
            </a:r>
            <a:r>
              <a:rPr lang="en-GB" dirty="0">
                <a:sym typeface="Wingdings" panose="05000000000000000000" pitchFamily="2" charset="2"/>
              </a:rPr>
              <a:t>.</a:t>
            </a:r>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529600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dirty="0"/>
              <a:t>My name is Mark Wragg, I’ve been semi- active in the PowerShell community for the past decade of so. </a:t>
            </a:r>
          </a:p>
          <a:p>
            <a:endParaRPr lang="en-GB" sz="1200" dirty="0"/>
          </a:p>
          <a:p>
            <a:r>
              <a:rPr lang="en-GB" sz="1200" dirty="0"/>
              <a:t>I’m based in the UK, where I live with my wife and three small humans, although one of those humans isn’t that small anymore, so I might need to come up with a new way of saying that.</a:t>
            </a:r>
          </a:p>
          <a:p>
            <a:endParaRPr lang="en-GB" sz="1200" dirty="0"/>
          </a:p>
          <a:p>
            <a:r>
              <a:rPr lang="en-GB" sz="1200" dirty="0"/>
              <a:t>I have a blog where I tend to share technical things I’ve found interesting.</a:t>
            </a:r>
          </a:p>
          <a:p>
            <a:endParaRPr lang="en-GB" sz="1200" dirty="0"/>
          </a:p>
          <a:p>
            <a:r>
              <a:rPr lang="en-GB" sz="1200" dirty="0"/>
              <a:t>You can also find me on LinkedIn and Bluesky, or if you’re interested in any of the code you see today it’s on GitHub.</a:t>
            </a:r>
          </a:p>
          <a:p>
            <a:endParaRPr lang="en-GB" sz="1200" dirty="0"/>
          </a:p>
          <a:p>
            <a:r>
              <a:rPr lang="en-GB" sz="1200" dirty="0"/>
              <a:t>This QR code on the left takes you to my blog, and was generated via a module called PSQR by Jake Hildreth.</a:t>
            </a:r>
          </a:p>
          <a:p>
            <a:endParaRPr lang="en-GB" sz="1200" dirty="0"/>
          </a:p>
          <a:p>
            <a:endParaRPr lang="en-GB" sz="1200" dirty="0"/>
          </a:p>
        </p:txBody>
      </p:sp>
      <p:sp>
        <p:nvSpPr>
          <p:cNvPr id="4" name="Slide Number Placehold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1257713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 going to give a very quick intro to Azure DevOps.</a:t>
            </a:r>
          </a:p>
          <a:p>
            <a:endParaRPr lang="en-GB" dirty="0"/>
          </a:p>
          <a:p>
            <a:r>
              <a:rPr lang="en-GB" dirty="0"/>
              <a:t>I’m also going to tell you why you shouldn’t use it, which is brilliant. So I’ve got a list of alternatives.</a:t>
            </a:r>
          </a:p>
          <a:p>
            <a:endParaRPr lang="en-GB" dirty="0"/>
          </a:p>
          <a:p>
            <a:r>
              <a:rPr lang="en-GB" dirty="0"/>
              <a:t>And then I’m going to talk very quickly about Disposable and Durable code.</a:t>
            </a:r>
          </a:p>
          <a:p>
            <a:endParaRPr lang="en-GB" dirty="0"/>
          </a:p>
          <a:p>
            <a:r>
              <a:rPr lang="en-GB" dirty="0"/>
              <a:t>Then we’ll get into why you might want to use a build pipeline for PowerShell, and some of things you can do with it.</a:t>
            </a:r>
          </a:p>
          <a:p>
            <a:endParaRPr lang="en-GB" dirty="0"/>
          </a:p>
          <a:p>
            <a:r>
              <a:rPr lang="en-GB" dirty="0"/>
              <a:t>And then I’m just going to jump straight into a demo, and setup a new pipeline for a new module, and dig into more of the detail around what the pipeline does and why.</a:t>
            </a:r>
          </a:p>
        </p:txBody>
      </p:sp>
      <p:sp>
        <p:nvSpPr>
          <p:cNvPr id="4" name="Slide Number Placehold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215144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as it says here, Azure DevOps is a cloud-based, or on-premise (if you want) tool for planning, coding, testing and deploying software.</a:t>
            </a:r>
          </a:p>
          <a:p>
            <a:endParaRPr lang="en-GB" dirty="0"/>
          </a:p>
          <a:p>
            <a:r>
              <a:rPr lang="en-GB" dirty="0"/>
              <a:t>Used in lots of enterprises, particularly where those enterprises are building Microsoft-based software, and on Azure. Although that’s by no means a requirement.</a:t>
            </a:r>
          </a:p>
          <a:p>
            <a:endParaRPr lang="en-GB" dirty="0"/>
          </a:p>
          <a:p>
            <a:r>
              <a:rPr lang="en-GB" dirty="0"/>
              <a:t>It has lots of features around the whole Software Development lifecycle, so its not just about running pipelines and automation, but also provides Kanban boards, and sprint planning tools, you can use it as a code repository to store Git repos instead of having them in GitHub. But none of this is mandatory, you just pick and choose what you want to use, and in my demo today I’m just using it for its pipelines.</a:t>
            </a:r>
          </a:p>
          <a:p>
            <a:endParaRPr lang="en-GB" dirty="0"/>
          </a:p>
          <a:p>
            <a:r>
              <a:rPr lang="en-GB" dirty="0"/>
              <a:t>It’s free, but it is about to get worse. It used to be that you could host public or private projects, public obviously being accessible and visible to everyone, and private being the opposite of that. Unfortunately public projects are going away next year, which I only discovered while prepping for this talk, but seeing as I’d already committed to talk about it I’m still going to.</a:t>
            </a:r>
          </a:p>
          <a:p>
            <a:endParaRPr lang="en-GB" dirty="0"/>
          </a:p>
          <a:p>
            <a:r>
              <a:rPr lang="en-GB" dirty="0"/>
              <a:t>There’s nothing stopping you still choosing Azure DevOps if its right for you, and you don’t mind building in private, with less concurrency for free than you used to get.</a:t>
            </a:r>
          </a:p>
        </p:txBody>
      </p:sp>
      <p:sp>
        <p:nvSpPr>
          <p:cNvPr id="4" name="Slide Number Placehold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3898682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Alternatively, there are some other options. So I’m going to have a look at GitHub Actions to see if I can get some free concurrent jobs with that. </a:t>
            </a:r>
          </a:p>
          <a:p>
            <a:endParaRPr lang="en-GB" dirty="0"/>
          </a:p>
          <a:p>
            <a:r>
              <a:rPr lang="en-GB" dirty="0"/>
              <a:t>As you’ll hopefully see today, Azure DevOps Public Projects gives you 10 concurrent jobs, which means you can be simultaneously testing you code on Windows, </a:t>
            </a:r>
            <a:r>
              <a:rPr lang="en-GB" dirty="0" err="1"/>
              <a:t>MacOs</a:t>
            </a:r>
            <a:r>
              <a:rPr lang="en-GB" dirty="0"/>
              <a:t> and Linux, which obviously reduces the overall time your pipeline runs.</a:t>
            </a:r>
          </a:p>
          <a:p>
            <a:endParaRPr lang="en-GB" dirty="0"/>
          </a:p>
          <a:p>
            <a:r>
              <a:rPr lang="en-GB" dirty="0"/>
              <a:t>Be very sad to see that go, and I’ll be looking for a free alternative that allows concurrency.</a:t>
            </a:r>
          </a:p>
          <a:p>
            <a:endParaRPr lang="en-GB" dirty="0"/>
          </a:p>
          <a:p>
            <a:r>
              <a:rPr lang="en-GB" dirty="0"/>
              <a:t>There are some other populate build platforms listed here, GitLab, </a:t>
            </a:r>
            <a:r>
              <a:rPr lang="en-GB" dirty="0" err="1"/>
              <a:t>CircleCI</a:t>
            </a:r>
            <a:r>
              <a:rPr lang="en-GB" dirty="0"/>
              <a:t>, Bitbucket, AppVeyor which I used to use prior to Azure DevOps.</a:t>
            </a:r>
          </a:p>
        </p:txBody>
      </p:sp>
      <p:sp>
        <p:nvSpPr>
          <p:cNvPr id="4" name="Slide Number Placeholder 3"/>
          <p:cNvSpPr>
            <a:spLocks noGrp="1"/>
          </p:cNvSpPr>
          <p:nvPr>
            <p:ph type="sldNum" sz="quarter" idx="5"/>
          </p:nvPr>
        </p:nvSpPr>
        <p:spPr/>
        <p:txBody>
          <a:bodyPr/>
          <a:lstStyle/>
          <a:p>
            <a:fld id="{A7839206-A81D-4F76-8486-302187992F73}" type="slidenum">
              <a:rPr lang="en-GB" smtClean="0"/>
              <a:t>6</a:t>
            </a:fld>
            <a:endParaRPr lang="en-GB"/>
          </a:p>
        </p:txBody>
      </p:sp>
    </p:spTree>
    <p:extLst>
      <p:ext uri="{BB962C8B-B14F-4D97-AF65-F5344CB8AC3E}">
        <p14:creationId xmlns:p14="http://schemas.microsoft.com/office/powerpoint/2010/main" val="4166210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So I wanted to quickly talk about Disposable vs Durable Code. </a:t>
            </a:r>
          </a:p>
          <a:p>
            <a:endParaRPr lang="en-GB" dirty="0"/>
          </a:p>
          <a:p>
            <a:r>
              <a:rPr lang="en-GB" dirty="0"/>
              <a:t>In PowerShell we’ve always had a form of disposable code, in the one-liners or console commands that would be run once, get a result, move on. Obviously Durable code is any code you want to keep longer term, reuse for the future.</a:t>
            </a:r>
          </a:p>
          <a:p>
            <a:endParaRPr lang="en-GB" dirty="0"/>
          </a:p>
          <a:p>
            <a:r>
              <a:rPr lang="en-GB" dirty="0"/>
              <a:t>AI obviously has made this much more of an issue, because people are one shotting very complex solutions, and then maybe not even keeping them once they’ve for the result they want. Obviously, this is horrible for the planet, and is like eating off of paper plates every day.</a:t>
            </a:r>
          </a:p>
          <a:p>
            <a:endParaRPr lang="en-GB" dirty="0"/>
          </a:p>
          <a:p>
            <a:r>
              <a:rPr lang="en-GB" dirty="0"/>
              <a:t>And the </a:t>
            </a:r>
            <a:r>
              <a:rPr lang="en-GB" dirty="0" err="1"/>
              <a:t>realy</a:t>
            </a:r>
            <a:r>
              <a:rPr lang="en-GB" dirty="0"/>
              <a:t> problem with disposable code, is sometimes it becomes durable code when you didn’t mean it to. And then you’ve got something that is potentially fragile, or not optimal, and suddenly you’re relying on it every day.</a:t>
            </a:r>
          </a:p>
          <a:p>
            <a:endParaRPr lang="en-GB" dirty="0"/>
          </a:p>
          <a:p>
            <a:r>
              <a:rPr lang="en-GB" dirty="0"/>
              <a:t>This is again, not a new problem that AI has caused. So often we’d write a quick script to solve a problem, and it becomes integral to the day to day operating of a company. But it’s obviously got easier than every to create very complex code, and because it’s so easy to generate, it’s easier to justify treating it as disposable.</a:t>
            </a:r>
          </a:p>
        </p:txBody>
      </p:sp>
      <p:sp>
        <p:nvSpPr>
          <p:cNvPr id="4" name="Slide Number Placeholder 3"/>
          <p:cNvSpPr>
            <a:spLocks noGrp="1"/>
          </p:cNvSpPr>
          <p:nvPr>
            <p:ph type="sldNum" sz="quarter" idx="5"/>
          </p:nvPr>
        </p:nvSpPr>
        <p:spPr/>
        <p:txBody>
          <a:bodyPr/>
          <a:lstStyle/>
          <a:p>
            <a:fld id="{A7839206-A81D-4F76-8486-302187992F73}" type="slidenum">
              <a:rPr lang="en-GB" smtClean="0"/>
              <a:t>7</a:t>
            </a:fld>
            <a:endParaRPr lang="en-GB"/>
          </a:p>
        </p:txBody>
      </p:sp>
    </p:spTree>
    <p:extLst>
      <p:ext uri="{BB962C8B-B14F-4D97-AF65-F5344CB8AC3E}">
        <p14:creationId xmlns:p14="http://schemas.microsoft.com/office/powerpoint/2010/main" val="1164746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GB"/>
          </a:p>
        </p:txBody>
      </p:sp>
      <p:sp>
        <p:nvSpPr>
          <p:cNvPr id="3" name="Espace réservé des notes 2"/>
          <p:cNvSpPr>
            <a:spLocks noGrp="1"/>
          </p:cNvSpPr>
          <p:nvPr>
            <p:ph type="body" idx="1"/>
          </p:nvPr>
        </p:nvSpPr>
        <p:spPr/>
        <p:txBody>
          <a:bodyPr/>
          <a:lstStyle/>
          <a:p>
            <a:r>
              <a:rPr lang="en-GB" dirty="0"/>
              <a:t>So I found this quote in an article by Charity Majors. </a:t>
            </a:r>
            <a:r>
              <a:rPr lang="en-GB"/>
              <a:t>As it says, </a:t>
            </a:r>
            <a:r>
              <a:rPr lang="en-GB" dirty="0"/>
              <a:t>AI has not eliminated the need for fast feedback loops and software guardrails, (which is what you get by putting together a build pipeline for your PowerShell code). </a:t>
            </a:r>
          </a:p>
          <a:p>
            <a:endParaRPr lang="en-GB" dirty="0"/>
          </a:p>
          <a:p>
            <a:r>
              <a:rPr lang="en-GB" dirty="0"/>
              <a:t>They are not more important than ever, because the code AI is generating is more complex than ever. There’s also probably a lot more of it being created. That’s certainly my experience, where I’ve made lots of improvements to my PowerShell code recently, adding features as soon as I conceive of them because AI makes it so easy. </a:t>
            </a:r>
          </a:p>
          <a:p>
            <a:endParaRPr lang="en-GB" dirty="0"/>
          </a:p>
          <a:p>
            <a:r>
              <a:rPr lang="en-GB" dirty="0"/>
              <a:t>By having a pipeline that is run every time that code is changed and made more complex, adds an element of safety that we haven’t broken anything that previously worked, and that the new functionality does what we intended. And that we don’t publish broken code.</a:t>
            </a:r>
          </a:p>
          <a:p>
            <a:endParaRPr lang="en-GB" dirty="0"/>
          </a:p>
          <a:p>
            <a:r>
              <a:rPr lang="en-GB" dirty="0"/>
              <a:t>And then there’s secondary bits that can tend to be forgotten, such as ensuring you publish a </a:t>
            </a:r>
            <a:r>
              <a:rPr lang="en-GB" dirty="0" err="1"/>
              <a:t>ChangeLog</a:t>
            </a:r>
            <a:r>
              <a:rPr lang="en-GB" dirty="0"/>
              <a:t> so people can easily find out what's changed when you publish new versions of your code, and making documentation available where people can easily access it, such as directly in the repo. If you put these bits in your pipeline, they happen every time, with no effort.</a:t>
            </a:r>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8</a:t>
            </a:fld>
            <a:endParaRPr lang="en-GB"/>
          </a:p>
        </p:txBody>
      </p:sp>
    </p:spTree>
    <p:extLst>
      <p:ext uri="{BB962C8B-B14F-4D97-AF65-F5344CB8AC3E}">
        <p14:creationId xmlns:p14="http://schemas.microsoft.com/office/powerpoint/2010/main" val="3390954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so what do you want a PowerShell build pipeline for? Well there’s a few things you can do with it, and ultimately its up to you:</a:t>
            </a:r>
          </a:p>
          <a:p>
            <a:endParaRPr lang="en-GB" dirty="0"/>
          </a:p>
          <a:p>
            <a:r>
              <a:rPr lang="en-GB" dirty="0"/>
              <a:t>If you code your modules so that each cmdlet/function is an individual file, which is really great for tracking changes in source control, and much nicer than having a load of cmdlets in one huge file, you should still combine those into a single psm1 file before you publish the module. It’s not the end of the world if you don’t, but there’s a significant performance improvement when people then Import your module if you do.</a:t>
            </a:r>
          </a:p>
          <a:p>
            <a:endParaRPr lang="en-GB" dirty="0"/>
          </a:p>
          <a:p>
            <a:r>
              <a:rPr lang="en-GB" dirty="0"/>
              <a:t>There’s a great tool called PSScriptAnalyzer which you can use to enforce PowerShell recommended practices in your code, such as using full cmdlet names instead of aliases, avoiding accepting password input in plain text, that you haven’t make mistakes like having unused variables, or mandatory parameters with a default value. You can configure these rules to suit your needs, but they help keep you on the straight and narrow.</a:t>
            </a:r>
          </a:p>
          <a:p>
            <a:endParaRPr lang="en-GB" dirty="0"/>
          </a:p>
          <a:p>
            <a:r>
              <a:rPr lang="en-GB" dirty="0"/>
              <a:t>You should be writing Pester tests, or at least having AI generate some. These then make sure your code works the way you expect, and should be run every time the code changes.</a:t>
            </a:r>
          </a:p>
          <a:p>
            <a:endParaRPr lang="en-GB" dirty="0"/>
          </a:p>
          <a:p>
            <a:r>
              <a:rPr lang="en-GB" dirty="0"/>
              <a:t>As I said earlier, you can generate documentation. So you can turn your PowerShell help output into Markdown files, and put those back in the repo or anywhere else you want to publish documentation.</a:t>
            </a:r>
          </a:p>
          <a:p>
            <a:endParaRPr lang="en-GB" dirty="0"/>
          </a:p>
          <a:p>
            <a:r>
              <a:rPr lang="en-GB" dirty="0"/>
              <a:t>And finally, if all of the above has worked, and you want to deploy some new code to the PowerShell Gallery, or anywhere else you store your code (which obviously could include a private artifact repo) then we can have the pipeline do that, so we don’t do all this fabulous work and then forget to share it.</a:t>
            </a:r>
          </a:p>
        </p:txBody>
      </p:sp>
      <p:sp>
        <p:nvSpPr>
          <p:cNvPr id="4" name="Slide Number Placeholder 3"/>
          <p:cNvSpPr>
            <a:spLocks noGrp="1"/>
          </p:cNvSpPr>
          <p:nvPr>
            <p:ph type="sldNum" sz="quarter" idx="5"/>
          </p:nvPr>
        </p:nvSpPr>
        <p:spPr/>
        <p:txBody>
          <a:bodyPr/>
          <a:lstStyle/>
          <a:p>
            <a:fld id="{A7839206-A81D-4F76-8486-302187992F73}" type="slidenum">
              <a:rPr lang="en-GB" smtClean="0"/>
              <a:t>9</a:t>
            </a:fld>
            <a:endParaRPr lang="en-GB"/>
          </a:p>
        </p:txBody>
      </p:sp>
    </p:spTree>
    <p:extLst>
      <p:ext uri="{BB962C8B-B14F-4D97-AF65-F5344CB8AC3E}">
        <p14:creationId xmlns:p14="http://schemas.microsoft.com/office/powerpoint/2010/main" val="1188088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quick demo now. I’ve got a silly little PowerShell module for Minecraft that I’m going to publish.</a:t>
            </a:r>
          </a:p>
        </p:txBody>
      </p:sp>
      <p:sp>
        <p:nvSpPr>
          <p:cNvPr id="4" name="Slide Number Placeholder 3"/>
          <p:cNvSpPr>
            <a:spLocks noGrp="1"/>
          </p:cNvSpPr>
          <p:nvPr>
            <p:ph type="sldNum" sz="quarter" idx="5"/>
          </p:nvPr>
        </p:nvSpPr>
        <p:spPr/>
        <p:txBody>
          <a:bodyPr/>
          <a:lstStyle/>
          <a:p>
            <a:fld id="{A7839206-A81D-4F76-8486-302187992F73}" type="slidenum">
              <a:rPr lang="en-GB" smtClean="0"/>
              <a:t>10</a:t>
            </a:fld>
            <a:endParaRPr lang="en-GB"/>
          </a:p>
        </p:txBody>
      </p:sp>
    </p:spTree>
    <p:extLst>
      <p:ext uri="{BB962C8B-B14F-4D97-AF65-F5344CB8AC3E}">
        <p14:creationId xmlns:p14="http://schemas.microsoft.com/office/powerpoint/2010/main" val="3320566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4.sv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4.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6" name="Image 5" descr="Une image contenant Police, Graphique, logo, capture d’écran&#10;&#10;Le contenu généré par l’IA peut être incorrect.">
            <a:extLst>
              <a:ext uri="{FF2B5EF4-FFF2-40B4-BE49-F238E27FC236}">
                <a16:creationId xmlns:a16="http://schemas.microsoft.com/office/drawing/2014/main" id="{F0EC9367-7C44-A222-C889-638B9852E54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1" y="5935475"/>
            <a:ext cx="2720050" cy="731659"/>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822738" y="196674"/>
            <a:ext cx="1062038" cy="904875"/>
          </a:xfrm>
          <a:prstGeom prst="rect">
            <a:avLst/>
          </a:prstGeom>
        </p:spPr>
      </p:pic>
      <p:pic>
        <p:nvPicPr>
          <p:cNvPr id="6" name="Image 5" descr="Une image contenant Police, Graphique, logo, capture d’écran&#10;&#10;Le contenu généré par l’IA peut être incorrect.">
            <a:extLst>
              <a:ext uri="{FF2B5EF4-FFF2-40B4-BE49-F238E27FC236}">
                <a16:creationId xmlns:a16="http://schemas.microsoft.com/office/drawing/2014/main" id="{D1DD78C6-1B88-832E-3A91-9845A0002591}"/>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822737" y="1062214"/>
            <a:ext cx="1146429" cy="308375"/>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hyperlink" Target="https://bsky.app/profile/wragg.io" TargetMode="External"/><Relationship Id="rId3" Type="http://schemas.openxmlformats.org/officeDocument/2006/relationships/image" Target="../media/image6.png"/><Relationship Id="rId7" Type="http://schemas.openxmlformats.org/officeDocument/2006/relationships/hyperlink" Target="https://www.linkedin.com/in/mwragg/"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hyperlink" Target="https://mpfe.uk/" TargetMode="External"/><Relationship Id="rId5" Type="http://schemas.openxmlformats.org/officeDocument/2006/relationships/hyperlink" Target="https://wragg.io/" TargetMode="External"/><Relationship Id="rId10"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hyperlink" Target="https://github.com/markwragg"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https://www.honeycomb.io/blog/disposable-code-is-here-to-stay"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i="1" dirty="0"/>
              <a:t>Mark Wragg</a:t>
            </a:r>
            <a:endParaRPr lang="en-GB" b="1" i="1" dirty="0"/>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GB" sz="4800" b="1" dirty="0">
                <a:solidFill>
                  <a:srgbClr val="346296"/>
                </a:solidFill>
                <a:latin typeface="+mn-lt"/>
              </a:rPr>
              <a:t>Automate build testing and deployment of your PowerShell modules cross platform with Azure DevOps</a:t>
            </a: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fr-FR" sz="4000" b="1" kern="1200">
                <a:solidFill>
                  <a:srgbClr val="346296"/>
                </a:solidFill>
                <a:effectLst/>
                <a:latin typeface="Calibri" panose="020F0502020204030204" pitchFamily="34" charset="0"/>
                <a:ea typeface="+mn-ea"/>
                <a:cs typeface="+mn-cs"/>
              </a:rPr>
              <a:t>Many thanks to our sponsors:</a:t>
            </a:r>
            <a:endParaRPr lang="en-DE"/>
          </a:p>
        </p:txBody>
      </p:sp>
      <p:pic>
        <p:nvPicPr>
          <p:cNvPr id="7" name="Graphique 6">
            <a:extLst>
              <a:ext uri="{FF2B5EF4-FFF2-40B4-BE49-F238E27FC236}">
                <a16:creationId xmlns:a16="http://schemas.microsoft.com/office/drawing/2014/main" id="{F3695257-056A-EFFE-FDC1-4CEA809E7A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214" y="1713704"/>
            <a:ext cx="10695572" cy="3271041"/>
          </a:xfrm>
          <a:prstGeom prst="rect">
            <a:avLst/>
          </a:prstGeom>
        </p:spPr>
      </p:pic>
    </p:spTree>
    <p:extLst>
      <p:ext uri="{BB962C8B-B14F-4D97-AF65-F5344CB8AC3E}">
        <p14:creationId xmlns:p14="http://schemas.microsoft.com/office/powerpoint/2010/main" val="3984835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852863"/>
            <a:ext cx="4877433" cy="176409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GB" sz="2400" dirty="0"/>
              <a:t>Hi! 👋 I am an IT contractor from the UK, specialising in Cloud, Automation and DevOps. I live in Basingstoke with my wife and three small humans.</a:t>
            </a:r>
            <a:br>
              <a:rPr lang="en-GB" sz="2400" dirty="0"/>
            </a:br>
            <a:endParaRPr lang="en-GB" sz="2400" dirty="0"/>
          </a:p>
          <a:p>
            <a:pPr marL="0" indent="0">
              <a:buNone/>
            </a:pPr>
            <a:endParaRPr lang="en-GB" sz="2400" dirty="0"/>
          </a:p>
          <a:p>
            <a:pPr marL="0" indent="0">
              <a:buNone/>
            </a:pPr>
            <a:endParaRPr lang="en-GB" sz="2400" dirty="0"/>
          </a:p>
          <a:p>
            <a:pPr marL="0" indent="0">
              <a:buNone/>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a:bodyPr>
          <a:lstStyle/>
          <a:p>
            <a:r>
              <a:rPr lang="en-GB" sz="6600" dirty="0">
                <a:solidFill>
                  <a:srgbClr val="346296"/>
                </a:solidFill>
                <a:latin typeface="+mn-lt"/>
                <a:ea typeface="+mn-ea"/>
                <a:cs typeface="+mn-cs"/>
              </a:rPr>
              <a:t>Mark Wragg</a:t>
            </a:r>
            <a:endParaRPr lang="en-DE" sz="6600" dirty="0">
              <a:solidFill>
                <a:srgbClr val="346296"/>
              </a:solidFill>
              <a:latin typeface="+mn-lt"/>
              <a:ea typeface="+mn-ea"/>
              <a:cs typeface="+mn-cs"/>
            </a:endParaRPr>
          </a:p>
        </p:txBody>
      </p:sp>
      <p:pic>
        <p:nvPicPr>
          <p:cNvPr id="6" name="Picture 5" descr="The image is a black and white photograph of a person wearing a dark-colored shirt.&#10;&#10;AI-generated content may be incorrect.">
            <a:extLst>
              <a:ext uri="{FF2B5EF4-FFF2-40B4-BE49-F238E27FC236}">
                <a16:creationId xmlns:a16="http://schemas.microsoft.com/office/drawing/2014/main" id="{8360E885-7288-04E3-7C27-50B134A63C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970" y="399142"/>
            <a:ext cx="2760183" cy="2760183"/>
          </a:xfrm>
          <a:prstGeom prst="rect">
            <a:avLst/>
          </a:prstGeom>
          <a:effectLst>
            <a:softEdge rad="25400"/>
          </a:effectLst>
        </p:spPr>
      </p:pic>
      <p:pic>
        <p:nvPicPr>
          <p:cNvPr id="14" name="Picture 13" descr="A simple line drawing of five people standing in a row, each with a neutral expression.&#10;&#10;AI-generated content may be incorrect.">
            <a:extLst>
              <a:ext uri="{FF2B5EF4-FFF2-40B4-BE49-F238E27FC236}">
                <a16:creationId xmlns:a16="http://schemas.microsoft.com/office/drawing/2014/main" id="{265FB41A-0C28-247E-9B4A-D69074B6773E}"/>
              </a:ext>
            </a:extLst>
          </p:cNvPr>
          <p:cNvPicPr>
            <a:picLocks noChangeAspect="1"/>
          </p:cNvPicPr>
          <p:nvPr/>
        </p:nvPicPr>
        <p:blipFill>
          <a:blip r:embed="rId4"/>
          <a:stretch>
            <a:fillRect/>
          </a:stretch>
        </p:blipFill>
        <p:spPr>
          <a:xfrm>
            <a:off x="8572908" y="1739816"/>
            <a:ext cx="2522805" cy="1337225"/>
          </a:xfrm>
          <a:prstGeom prst="rect">
            <a:avLst/>
          </a:prstGeom>
        </p:spPr>
      </p:pic>
      <p:sp>
        <p:nvSpPr>
          <p:cNvPr id="16" name="Text Placeholder 2">
            <a:extLst>
              <a:ext uri="{FF2B5EF4-FFF2-40B4-BE49-F238E27FC236}">
                <a16:creationId xmlns:a16="http://schemas.microsoft.com/office/drawing/2014/main" id="{E78FE82B-A89D-DB51-32E3-C3B67A41185E}"/>
              </a:ext>
            </a:extLst>
          </p:cNvPr>
          <p:cNvSpPr txBox="1">
            <a:spLocks/>
          </p:cNvSpPr>
          <p:nvPr/>
        </p:nvSpPr>
        <p:spPr>
          <a:xfrm>
            <a:off x="3619714" y="3874346"/>
            <a:ext cx="7886486" cy="258451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1800"/>
              </a:spcBef>
              <a:buNone/>
            </a:pPr>
            <a:r>
              <a:rPr lang="en-GB" sz="2000" b="1" dirty="0"/>
              <a:t>Socials</a:t>
            </a:r>
          </a:p>
          <a:p>
            <a:pPr>
              <a:buFont typeface="Wingdings" panose="05000000000000000000" pitchFamily="2" charset="2"/>
              <a:buChar char="§"/>
            </a:pPr>
            <a:r>
              <a:rPr lang="en-US" sz="2000" dirty="0"/>
              <a:t>Blog: </a:t>
            </a:r>
            <a:r>
              <a:rPr lang="en-US" sz="2000" dirty="0">
                <a:hlinkClick r:id="rId5"/>
              </a:rPr>
              <a:t>https://wragg.io</a:t>
            </a:r>
            <a:r>
              <a:rPr lang="en-US" sz="2000" dirty="0"/>
              <a:t> </a:t>
            </a:r>
          </a:p>
          <a:p>
            <a:pPr>
              <a:buFont typeface="Wingdings" panose="05000000000000000000" pitchFamily="2" charset="2"/>
              <a:buChar char="§"/>
            </a:pPr>
            <a:r>
              <a:rPr lang="en-US" sz="2000" dirty="0"/>
              <a:t>Company website: </a:t>
            </a:r>
            <a:r>
              <a:rPr lang="en-US" sz="2000" dirty="0">
                <a:hlinkClick r:id="rId6"/>
              </a:rPr>
              <a:t>https://mpfe.uk</a:t>
            </a:r>
            <a:r>
              <a:rPr lang="en-US" sz="2000" dirty="0"/>
              <a:t> </a:t>
            </a:r>
          </a:p>
          <a:p>
            <a:pPr>
              <a:buFont typeface="Wingdings" panose="05000000000000000000" pitchFamily="2" charset="2"/>
              <a:buChar char="§"/>
            </a:pPr>
            <a:r>
              <a:rPr lang="en-US" sz="2000" dirty="0"/>
              <a:t>LinkedIn:  </a:t>
            </a:r>
            <a:r>
              <a:rPr lang="en-US" sz="2000" dirty="0">
                <a:hlinkClick r:id="rId7"/>
              </a:rPr>
              <a:t>https://www.linkedin.com/in/mwragg/</a:t>
            </a:r>
            <a:r>
              <a:rPr lang="en-US" sz="2000" dirty="0"/>
              <a:t> </a:t>
            </a:r>
          </a:p>
          <a:p>
            <a:pPr>
              <a:buFont typeface="Wingdings" panose="05000000000000000000" pitchFamily="2" charset="2"/>
              <a:buChar char="§"/>
            </a:pPr>
            <a:r>
              <a:rPr lang="en-US" sz="2000" dirty="0"/>
              <a:t>BlueSky: </a:t>
            </a:r>
            <a:r>
              <a:rPr lang="en-US" sz="2000" dirty="0">
                <a:hlinkClick r:id="rId8"/>
              </a:rPr>
              <a:t>https://bsky.app/profile/wragg.io</a:t>
            </a:r>
            <a:r>
              <a:rPr lang="en-US" sz="2000" dirty="0"/>
              <a:t> </a:t>
            </a:r>
          </a:p>
          <a:p>
            <a:pPr>
              <a:buFont typeface="Wingdings" panose="05000000000000000000" pitchFamily="2" charset="2"/>
              <a:buChar char="§"/>
            </a:pPr>
            <a:r>
              <a:rPr lang="en-US" sz="2000" dirty="0"/>
              <a:t>GitHub: </a:t>
            </a:r>
            <a:r>
              <a:rPr lang="en-US" sz="2000" dirty="0">
                <a:hlinkClick r:id="rId9"/>
              </a:rPr>
              <a:t>https://github.com/markwragg</a:t>
            </a:r>
            <a:r>
              <a:rPr lang="en-US" sz="2000" dirty="0"/>
              <a:t>  </a:t>
            </a:r>
          </a:p>
          <a:p>
            <a:pPr>
              <a:buFont typeface="Wingdings" panose="05000000000000000000" pitchFamily="2" charset="2"/>
              <a:buChar char="§"/>
            </a:pPr>
            <a:endParaRPr lang="en-US" sz="2000" dirty="0"/>
          </a:p>
          <a:p>
            <a:pPr>
              <a:buFont typeface="Wingdings" panose="05000000000000000000" pitchFamily="2" charset="2"/>
              <a:buChar char="§"/>
            </a:pPr>
            <a:endParaRPr lang="en-US" sz="2000" dirty="0"/>
          </a:p>
        </p:txBody>
      </p:sp>
      <p:pic>
        <p:nvPicPr>
          <p:cNvPr id="20" name="Picture 19">
            <a:extLst>
              <a:ext uri="{FF2B5EF4-FFF2-40B4-BE49-F238E27FC236}">
                <a16:creationId xmlns:a16="http://schemas.microsoft.com/office/drawing/2014/main" id="{889368CE-B503-8AF7-F367-6EB7F315A6C1}"/>
              </a:ext>
            </a:extLst>
          </p:cNvPr>
          <p:cNvPicPr>
            <a:picLocks noChangeAspect="1"/>
          </p:cNvPicPr>
          <p:nvPr/>
        </p:nvPicPr>
        <p:blipFill>
          <a:blip r:embed="rId10"/>
          <a:stretch>
            <a:fillRect/>
          </a:stretch>
        </p:blipFill>
        <p:spPr>
          <a:xfrm>
            <a:off x="478970" y="3616960"/>
            <a:ext cx="2796003" cy="2837120"/>
          </a:xfrm>
          <a:prstGeom prst="rect">
            <a:avLst/>
          </a:prstGeom>
        </p:spPr>
      </p:pic>
    </p:spTree>
    <p:extLst>
      <p:ext uri="{BB962C8B-B14F-4D97-AF65-F5344CB8AC3E}">
        <p14:creationId xmlns:p14="http://schemas.microsoft.com/office/powerpoint/2010/main" val="751095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E2DF7-7102-B538-51E2-5297B72BF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D8182-E232-D2D2-12C0-B40B01B6A903}"/>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A3489024-4CEE-583B-E55C-F3AD9782C9A4}"/>
              </a:ext>
            </a:extLst>
          </p:cNvPr>
          <p:cNvSpPr>
            <a:spLocks noGrp="1"/>
          </p:cNvSpPr>
          <p:nvPr>
            <p:ph idx="1"/>
          </p:nvPr>
        </p:nvSpPr>
        <p:spPr/>
        <p:txBody>
          <a:bodyPr>
            <a:normAutofit/>
          </a:bodyPr>
          <a:lstStyle/>
          <a:p>
            <a:pPr marL="742950" indent="-742950">
              <a:buFont typeface="+mj-lt"/>
              <a:buAutoNum type="arabicPeriod"/>
            </a:pPr>
            <a:r>
              <a:rPr lang="en-GB" dirty="0"/>
              <a:t>What is Azure DevOps?</a:t>
            </a:r>
          </a:p>
          <a:p>
            <a:pPr marL="742950" indent="-742950">
              <a:buFont typeface="+mj-lt"/>
              <a:buAutoNum type="arabicPeriod"/>
            </a:pPr>
            <a:r>
              <a:rPr lang="en-GB" dirty="0"/>
              <a:t>Alternatives</a:t>
            </a:r>
          </a:p>
          <a:p>
            <a:pPr marL="742950" indent="-742950">
              <a:buFont typeface="+mj-lt"/>
              <a:buAutoNum type="arabicPeriod"/>
            </a:pPr>
            <a:r>
              <a:rPr lang="en-GB" dirty="0"/>
              <a:t>Disposable vs Durable code</a:t>
            </a:r>
          </a:p>
          <a:p>
            <a:pPr marL="742950" indent="-742950">
              <a:buFont typeface="+mj-lt"/>
              <a:buAutoNum type="arabicPeriod"/>
            </a:pPr>
            <a:r>
              <a:rPr lang="en-GB" dirty="0"/>
              <a:t>A PowerShell build pipeline</a:t>
            </a:r>
          </a:p>
          <a:p>
            <a:pPr marL="742950" indent="-742950">
              <a:buFont typeface="+mj-lt"/>
              <a:buAutoNum type="arabicPeriod"/>
            </a:pPr>
            <a:r>
              <a:rPr lang="en-GB" dirty="0"/>
              <a:t>Demo</a:t>
            </a:r>
          </a:p>
          <a:p>
            <a:pPr marL="742950" indent="-742950">
              <a:buFont typeface="+mj-lt"/>
              <a:buAutoNum type="arabicPeriod"/>
            </a:pPr>
            <a:endParaRPr lang="en-GB" dirty="0"/>
          </a:p>
        </p:txBody>
      </p:sp>
    </p:spTree>
    <p:extLst>
      <p:ext uri="{BB962C8B-B14F-4D97-AF65-F5344CB8AC3E}">
        <p14:creationId xmlns:p14="http://schemas.microsoft.com/office/powerpoint/2010/main" val="4078026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B55E-C1E7-C12D-81E3-DE92871E6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5F36F-4A0C-F46D-1A1F-3232DAC14D7A}"/>
              </a:ext>
            </a:extLst>
          </p:cNvPr>
          <p:cNvSpPr>
            <a:spLocks noGrp="1"/>
          </p:cNvSpPr>
          <p:nvPr>
            <p:ph type="title"/>
          </p:nvPr>
        </p:nvSpPr>
        <p:spPr/>
        <p:txBody>
          <a:bodyPr/>
          <a:lstStyle/>
          <a:p>
            <a:r>
              <a:rPr lang="en-GB" dirty="0"/>
              <a:t>What is Azure DevOps?</a:t>
            </a:r>
          </a:p>
        </p:txBody>
      </p:sp>
      <p:sp>
        <p:nvSpPr>
          <p:cNvPr id="3" name="Content Placeholder 2">
            <a:extLst>
              <a:ext uri="{FF2B5EF4-FFF2-40B4-BE49-F238E27FC236}">
                <a16:creationId xmlns:a16="http://schemas.microsoft.com/office/drawing/2014/main" id="{F416D7A4-E172-A7B7-8937-DF98EBFB49F6}"/>
              </a:ext>
            </a:extLst>
          </p:cNvPr>
          <p:cNvSpPr>
            <a:spLocks noGrp="1"/>
          </p:cNvSpPr>
          <p:nvPr>
            <p:ph idx="1"/>
          </p:nvPr>
        </p:nvSpPr>
        <p:spPr/>
        <p:txBody>
          <a:bodyPr>
            <a:normAutofit/>
          </a:bodyPr>
          <a:lstStyle/>
          <a:p>
            <a:r>
              <a:rPr lang="en-GB" dirty="0"/>
              <a:t>Cloud-based (or on-premise) tool for planning, coding, testing and deploying software.</a:t>
            </a:r>
          </a:p>
          <a:p>
            <a:r>
              <a:rPr lang="en-GB" dirty="0"/>
              <a:t>Use whichever features you need</a:t>
            </a:r>
          </a:p>
          <a:p>
            <a:pPr lvl="1"/>
            <a:r>
              <a:rPr lang="en-GB" dirty="0"/>
              <a:t>Can be used for the entire SDLC</a:t>
            </a:r>
          </a:p>
          <a:p>
            <a:pPr lvl="1"/>
            <a:r>
              <a:rPr lang="en-GB" dirty="0"/>
              <a:t>Can be integrated with other tools platforms (</a:t>
            </a:r>
            <a:r>
              <a:rPr lang="en-GB" dirty="0" err="1"/>
              <a:t>e.g</a:t>
            </a:r>
            <a:r>
              <a:rPr lang="en-GB" dirty="0"/>
              <a:t> GitHub).</a:t>
            </a:r>
          </a:p>
          <a:p>
            <a:r>
              <a:rPr lang="en-GB" dirty="0"/>
              <a:t>Free</a:t>
            </a:r>
          </a:p>
          <a:p>
            <a:pPr lvl="1"/>
            <a:r>
              <a:rPr lang="en-GB" dirty="0"/>
              <a:t>Public projects are being retired ☹️</a:t>
            </a:r>
          </a:p>
          <a:p>
            <a:pPr lvl="1"/>
            <a:r>
              <a:rPr lang="en-GB" dirty="0"/>
              <a:t>Private projects have less concurrent jobs / build minutes</a:t>
            </a:r>
          </a:p>
          <a:p>
            <a:pPr lvl="1"/>
            <a:endParaRPr lang="en-GB" dirty="0"/>
          </a:p>
          <a:p>
            <a:endParaRPr lang="en-GB" dirty="0"/>
          </a:p>
        </p:txBody>
      </p:sp>
    </p:spTree>
    <p:extLst>
      <p:ext uri="{BB962C8B-B14F-4D97-AF65-F5344CB8AC3E}">
        <p14:creationId xmlns:p14="http://schemas.microsoft.com/office/powerpoint/2010/main" val="2905144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69659-573C-2CB5-7078-1643398FA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642C5-927E-4B50-E8D3-CCCF2A20EB99}"/>
              </a:ext>
            </a:extLst>
          </p:cNvPr>
          <p:cNvSpPr>
            <a:spLocks noGrp="1"/>
          </p:cNvSpPr>
          <p:nvPr>
            <p:ph type="title"/>
          </p:nvPr>
        </p:nvSpPr>
        <p:spPr/>
        <p:txBody>
          <a:bodyPr/>
          <a:lstStyle/>
          <a:p>
            <a:r>
              <a:rPr lang="en-GB" dirty="0"/>
              <a:t>Alternatives</a:t>
            </a:r>
          </a:p>
        </p:txBody>
      </p:sp>
      <p:sp>
        <p:nvSpPr>
          <p:cNvPr id="3" name="Content Placeholder 2">
            <a:extLst>
              <a:ext uri="{FF2B5EF4-FFF2-40B4-BE49-F238E27FC236}">
                <a16:creationId xmlns:a16="http://schemas.microsoft.com/office/drawing/2014/main" id="{FC602573-9112-7CD6-94EE-AC30D502CBD5}"/>
              </a:ext>
            </a:extLst>
          </p:cNvPr>
          <p:cNvSpPr>
            <a:spLocks noGrp="1"/>
          </p:cNvSpPr>
          <p:nvPr>
            <p:ph idx="1"/>
          </p:nvPr>
        </p:nvSpPr>
        <p:spPr/>
        <p:txBody>
          <a:bodyPr>
            <a:normAutofit/>
          </a:bodyPr>
          <a:lstStyle/>
          <a:p>
            <a:r>
              <a:rPr lang="en-GB" dirty="0"/>
              <a:t>GitHub Actions</a:t>
            </a:r>
          </a:p>
          <a:p>
            <a:r>
              <a:rPr lang="en-GB" dirty="0"/>
              <a:t>Azure DevOps self-hosted agent</a:t>
            </a:r>
          </a:p>
          <a:p>
            <a:r>
              <a:rPr lang="en-GB" dirty="0"/>
              <a:t>GitLab CI/CD</a:t>
            </a:r>
          </a:p>
          <a:p>
            <a:r>
              <a:rPr lang="en-GB" dirty="0" err="1"/>
              <a:t>CircleCI</a:t>
            </a:r>
            <a:endParaRPr lang="en-GB" dirty="0"/>
          </a:p>
          <a:p>
            <a:r>
              <a:rPr lang="en-GB" dirty="0"/>
              <a:t>Bitbucket Pipelines</a:t>
            </a:r>
          </a:p>
          <a:p>
            <a:r>
              <a:rPr lang="en-GB" dirty="0"/>
              <a:t>AppVeyor</a:t>
            </a:r>
          </a:p>
          <a:p>
            <a:endParaRPr lang="en-GB" dirty="0"/>
          </a:p>
        </p:txBody>
      </p:sp>
    </p:spTree>
    <p:extLst>
      <p:ext uri="{BB962C8B-B14F-4D97-AF65-F5344CB8AC3E}">
        <p14:creationId xmlns:p14="http://schemas.microsoft.com/office/powerpoint/2010/main" val="1250294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ine China: Anna Garden Bone China (Cup &amp; Saucer) - St. James SHOP Fine  China">
            <a:extLst>
              <a:ext uri="{FF2B5EF4-FFF2-40B4-BE49-F238E27FC236}">
                <a16:creationId xmlns:a16="http://schemas.microsoft.com/office/drawing/2014/main" id="{E003912F-7441-8A18-250C-848BBBD74475}"/>
              </a:ext>
            </a:extLst>
          </p:cNvPr>
          <p:cNvPicPr>
            <a:picLocks noChangeAspect="1"/>
          </p:cNvPicPr>
          <p:nvPr/>
        </p:nvPicPr>
        <p:blipFill>
          <a:blip r:embed="rId3"/>
          <a:srcRect b="18097"/>
          <a:stretch>
            <a:fillRect/>
          </a:stretch>
        </p:blipFill>
        <p:spPr>
          <a:xfrm>
            <a:off x="6289490" y="4001294"/>
            <a:ext cx="3487906" cy="2856706"/>
          </a:xfrm>
          <a:prstGeom prst="rect">
            <a:avLst/>
          </a:prstGeom>
        </p:spPr>
      </p:pic>
      <p:pic>
        <p:nvPicPr>
          <p:cNvPr id="10" name="Picture 9" descr="The image shows a collection of various sizes of white, uncoated paper cups and plates, arranged neatly on a white background.&#10;&#10;AI-generated content may be incorrect.">
            <a:extLst>
              <a:ext uri="{FF2B5EF4-FFF2-40B4-BE49-F238E27FC236}">
                <a16:creationId xmlns:a16="http://schemas.microsoft.com/office/drawing/2014/main" id="{FAA2DCA7-F65C-5BDA-4BC4-D84CACEEE9E5}"/>
              </a:ext>
            </a:extLst>
          </p:cNvPr>
          <p:cNvPicPr>
            <a:picLocks noChangeAspect="1"/>
          </p:cNvPicPr>
          <p:nvPr/>
        </p:nvPicPr>
        <p:blipFill>
          <a:blip r:embed="rId4"/>
          <a:srcRect b="21631"/>
          <a:stretch>
            <a:fillRect/>
          </a:stretch>
        </p:blipFill>
        <p:spPr>
          <a:xfrm>
            <a:off x="1685047" y="4124574"/>
            <a:ext cx="3487906" cy="2733426"/>
          </a:xfrm>
          <a:prstGeom prst="rect">
            <a:avLst/>
          </a:prstGeom>
        </p:spPr>
      </p:pic>
      <p:sp>
        <p:nvSpPr>
          <p:cNvPr id="2" name="Title 1">
            <a:extLst>
              <a:ext uri="{FF2B5EF4-FFF2-40B4-BE49-F238E27FC236}">
                <a16:creationId xmlns:a16="http://schemas.microsoft.com/office/drawing/2014/main" id="{D0ED5B32-5508-746F-68D8-7CD5B87075B3}"/>
              </a:ext>
            </a:extLst>
          </p:cNvPr>
          <p:cNvSpPr>
            <a:spLocks noGrp="1"/>
          </p:cNvSpPr>
          <p:nvPr>
            <p:ph type="title"/>
          </p:nvPr>
        </p:nvSpPr>
        <p:spPr/>
        <p:txBody>
          <a:bodyPr/>
          <a:lstStyle/>
          <a:p>
            <a:r>
              <a:rPr lang="en-GB" dirty="0"/>
              <a:t>Disposable vs Durable code</a:t>
            </a:r>
          </a:p>
        </p:txBody>
      </p:sp>
      <p:sp>
        <p:nvSpPr>
          <p:cNvPr id="3" name="Content Placeholder 2">
            <a:extLst>
              <a:ext uri="{FF2B5EF4-FFF2-40B4-BE49-F238E27FC236}">
                <a16:creationId xmlns:a16="http://schemas.microsoft.com/office/drawing/2014/main" id="{66E58DE9-2079-E03F-78A8-7FE2D8B2F0E7}"/>
              </a:ext>
            </a:extLst>
          </p:cNvPr>
          <p:cNvSpPr>
            <a:spLocks noGrp="1"/>
          </p:cNvSpPr>
          <p:nvPr>
            <p:ph sz="half" idx="1"/>
          </p:nvPr>
        </p:nvSpPr>
        <p:spPr/>
        <p:txBody>
          <a:bodyPr>
            <a:normAutofit/>
          </a:bodyPr>
          <a:lstStyle/>
          <a:p>
            <a:r>
              <a:rPr lang="en-GB" dirty="0"/>
              <a:t>Disposable: </a:t>
            </a:r>
          </a:p>
          <a:p>
            <a:pPr lvl="1"/>
            <a:r>
              <a:rPr lang="en-GB" dirty="0"/>
              <a:t>Short-lived</a:t>
            </a:r>
          </a:p>
          <a:p>
            <a:pPr lvl="1"/>
            <a:r>
              <a:rPr lang="en-GB" dirty="0"/>
              <a:t>Rapid prototyping</a:t>
            </a:r>
          </a:p>
          <a:p>
            <a:pPr lvl="1"/>
            <a:r>
              <a:rPr lang="en-GB" dirty="0"/>
              <a:t>Inexpensive</a:t>
            </a:r>
          </a:p>
          <a:p>
            <a:pPr lvl="1"/>
            <a:r>
              <a:rPr lang="en-GB" dirty="0"/>
              <a:t>Dangerous if it becomes production</a:t>
            </a:r>
          </a:p>
          <a:p>
            <a:pPr marL="0" indent="0">
              <a:buNone/>
            </a:pPr>
            <a:endParaRPr lang="en-GB" dirty="0"/>
          </a:p>
        </p:txBody>
      </p:sp>
      <p:sp>
        <p:nvSpPr>
          <p:cNvPr id="6" name="Content Placeholder 5">
            <a:extLst>
              <a:ext uri="{FF2B5EF4-FFF2-40B4-BE49-F238E27FC236}">
                <a16:creationId xmlns:a16="http://schemas.microsoft.com/office/drawing/2014/main" id="{E98EAA8D-A24D-DE69-9420-BB3C77138B4A}"/>
              </a:ext>
            </a:extLst>
          </p:cNvPr>
          <p:cNvSpPr>
            <a:spLocks noGrp="1"/>
          </p:cNvSpPr>
          <p:nvPr>
            <p:ph sz="half" idx="2"/>
          </p:nvPr>
        </p:nvSpPr>
        <p:spPr>
          <a:xfrm>
            <a:off x="6019800" y="1825625"/>
            <a:ext cx="5334000" cy="4351338"/>
          </a:xfrm>
        </p:spPr>
        <p:txBody>
          <a:bodyPr/>
          <a:lstStyle/>
          <a:p>
            <a:r>
              <a:rPr lang="en-GB" dirty="0"/>
              <a:t>Durable:</a:t>
            </a:r>
          </a:p>
          <a:p>
            <a:pPr lvl="1"/>
            <a:r>
              <a:rPr lang="en-GB" dirty="0"/>
              <a:t>Long-term</a:t>
            </a:r>
          </a:p>
          <a:p>
            <a:pPr lvl="1"/>
            <a:r>
              <a:rPr lang="en-GB" dirty="0"/>
              <a:t>High-stakes</a:t>
            </a:r>
          </a:p>
          <a:p>
            <a:pPr lvl="1"/>
            <a:r>
              <a:rPr lang="en-GB" dirty="0"/>
              <a:t>Expensive</a:t>
            </a:r>
          </a:p>
          <a:p>
            <a:pPr lvl="1"/>
            <a:r>
              <a:rPr lang="en-GB" dirty="0"/>
              <a:t>Prone to over-engineering</a:t>
            </a:r>
          </a:p>
        </p:txBody>
      </p:sp>
    </p:spTree>
    <p:extLst>
      <p:ext uri="{BB962C8B-B14F-4D97-AF65-F5344CB8AC3E}">
        <p14:creationId xmlns:p14="http://schemas.microsoft.com/office/powerpoint/2010/main" val="3422363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1E0F2-FE77-51ED-3F72-223B58926E74}"/>
              </a:ext>
            </a:extLst>
          </p:cNvPr>
          <p:cNvSpPr>
            <a:spLocks noGrp="1"/>
          </p:cNvSpPr>
          <p:nvPr>
            <p:ph type="title"/>
          </p:nvPr>
        </p:nvSpPr>
        <p:spPr/>
        <p:txBody>
          <a:bodyPr/>
          <a:lstStyle/>
          <a:p>
            <a:r>
              <a:rPr lang="fr-FR" dirty="0"/>
              <a:t>More important than ever</a:t>
            </a:r>
            <a:endParaRPr lang="en-GB" dirty="0"/>
          </a:p>
        </p:txBody>
      </p:sp>
      <p:sp>
        <p:nvSpPr>
          <p:cNvPr id="3" name="Espace réservé du contenu 2">
            <a:extLst>
              <a:ext uri="{FF2B5EF4-FFF2-40B4-BE49-F238E27FC236}">
                <a16:creationId xmlns:a16="http://schemas.microsoft.com/office/drawing/2014/main" id="{07D5023A-BA6F-B725-CF78-FD889E577EA6}"/>
              </a:ext>
            </a:extLst>
          </p:cNvPr>
          <p:cNvSpPr>
            <a:spLocks noGrp="1"/>
          </p:cNvSpPr>
          <p:nvPr>
            <p:ph idx="1"/>
          </p:nvPr>
        </p:nvSpPr>
        <p:spPr>
          <a:xfrm>
            <a:off x="838200" y="1777497"/>
            <a:ext cx="10515600" cy="4351338"/>
          </a:xfrm>
        </p:spPr>
        <p:txBody>
          <a:bodyPr/>
          <a:lstStyle/>
          <a:p>
            <a:pPr marL="0" indent="0" algn="ctr">
              <a:buNone/>
            </a:pPr>
            <a:endParaRPr lang="en-GB" sz="4000" dirty="0"/>
          </a:p>
          <a:p>
            <a:pPr marL="0" indent="0" algn="ctr">
              <a:buNone/>
            </a:pPr>
            <a:r>
              <a:rPr lang="en-GB" sz="4000" dirty="0"/>
              <a:t>“AI has </a:t>
            </a:r>
            <a:r>
              <a:rPr lang="en-GB" sz="4000" i="1" dirty="0"/>
              <a:t>not</a:t>
            </a:r>
            <a:r>
              <a:rPr lang="en-GB" sz="4000" dirty="0"/>
              <a:t> eliminated the need for fast feedback loops and software guardrails—it’s made them more important than ever.” </a:t>
            </a:r>
            <a:br>
              <a:rPr lang="en-GB" dirty="0"/>
            </a:br>
            <a:endParaRPr lang="en-GB" sz="1050" dirty="0">
              <a:hlinkClick r:id="rId3"/>
            </a:endParaRPr>
          </a:p>
          <a:p>
            <a:pPr marL="0" indent="0" algn="ctr">
              <a:buNone/>
            </a:pPr>
            <a:r>
              <a:rPr lang="en-GB" sz="2000" dirty="0"/>
              <a:t>— </a:t>
            </a:r>
            <a:r>
              <a:rPr lang="en-GB" sz="2000" dirty="0">
                <a:hlinkClick r:id="rId3"/>
              </a:rPr>
              <a:t>https://www.honeycomb.io/blog/disposable-code-is-here-to-stay</a:t>
            </a:r>
            <a:r>
              <a:rPr lang="en-GB" sz="2000" dirty="0"/>
              <a:t>, Charity Majors 2025</a:t>
            </a:r>
          </a:p>
        </p:txBody>
      </p:sp>
    </p:spTree>
    <p:extLst>
      <p:ext uri="{BB962C8B-B14F-4D97-AF65-F5344CB8AC3E}">
        <p14:creationId xmlns:p14="http://schemas.microsoft.com/office/powerpoint/2010/main" val="1101361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053C-741E-8349-0EAA-61BB90AA5C8A}"/>
              </a:ext>
            </a:extLst>
          </p:cNvPr>
          <p:cNvSpPr>
            <a:spLocks noGrp="1"/>
          </p:cNvSpPr>
          <p:nvPr>
            <p:ph type="title"/>
          </p:nvPr>
        </p:nvSpPr>
        <p:spPr/>
        <p:txBody>
          <a:bodyPr/>
          <a:lstStyle/>
          <a:p>
            <a:r>
              <a:rPr lang="en-GB" dirty="0"/>
              <a:t>A PowerShell build pipeline</a:t>
            </a:r>
          </a:p>
        </p:txBody>
      </p:sp>
      <p:sp>
        <p:nvSpPr>
          <p:cNvPr id="3" name="Content Placeholder 2">
            <a:extLst>
              <a:ext uri="{FF2B5EF4-FFF2-40B4-BE49-F238E27FC236}">
                <a16:creationId xmlns:a16="http://schemas.microsoft.com/office/drawing/2014/main" id="{D7E72C65-167D-1927-2A32-0E6E760ABC81}"/>
              </a:ext>
            </a:extLst>
          </p:cNvPr>
          <p:cNvSpPr>
            <a:spLocks noGrp="1"/>
          </p:cNvSpPr>
          <p:nvPr>
            <p:ph idx="1"/>
          </p:nvPr>
        </p:nvSpPr>
        <p:spPr/>
        <p:txBody>
          <a:bodyPr/>
          <a:lstStyle/>
          <a:p>
            <a:r>
              <a:rPr lang="en-GB" dirty="0"/>
              <a:t>Repeatable, automatic steps that should run every time there is a change</a:t>
            </a:r>
          </a:p>
          <a:p>
            <a:pPr lvl="1"/>
            <a:r>
              <a:rPr lang="en-GB" dirty="0"/>
              <a:t>Combine the module into a single PSM1</a:t>
            </a:r>
          </a:p>
          <a:p>
            <a:pPr lvl="1"/>
            <a:r>
              <a:rPr lang="en-GB" dirty="0"/>
              <a:t>Run PSScriptAnalyzer</a:t>
            </a:r>
          </a:p>
          <a:p>
            <a:pPr lvl="1"/>
            <a:r>
              <a:rPr lang="en-GB" dirty="0"/>
              <a:t>Run Pester unit tests (Windows PowerShell / Core, MacOS, Linux)</a:t>
            </a:r>
          </a:p>
          <a:p>
            <a:pPr lvl="1"/>
            <a:r>
              <a:rPr lang="en-GB" dirty="0"/>
              <a:t>Publish Documentation</a:t>
            </a:r>
          </a:p>
          <a:p>
            <a:pPr lvl="1"/>
            <a:r>
              <a:rPr lang="en-GB" dirty="0"/>
              <a:t>Deploy to PS Gallery (and/or other artifact repo)</a:t>
            </a:r>
          </a:p>
          <a:p>
            <a:pPr lvl="1"/>
            <a:endParaRPr lang="en-GB" dirty="0"/>
          </a:p>
        </p:txBody>
      </p:sp>
    </p:spTree>
    <p:extLst>
      <p:ext uri="{BB962C8B-B14F-4D97-AF65-F5344CB8AC3E}">
        <p14:creationId xmlns:p14="http://schemas.microsoft.com/office/powerpoint/2010/main" val="2961006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GB" dirty="0"/>
              <a:t>Demo</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2404645" cy="4133431"/>
          </a:xfrm>
        </p:spPr>
        <p:txBody>
          <a:bodyPr/>
          <a:lstStyle/>
          <a:p>
            <a:r>
              <a:rPr lang="en-GB" dirty="0"/>
              <a:t>Implementing an Azure DevOps build pipeline for a new PowerShell module. </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3"/>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2"/>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3502FDC476714EB47BD1BE2BFD7B3D" ma:contentTypeVersion="14" ma:contentTypeDescription="Create a new document." ma:contentTypeScope="" ma:versionID="9fd144e218e0b23942296a209d2c70fa">
  <xsd:schema xmlns:xsd="http://www.w3.org/2001/XMLSchema" xmlns:xs="http://www.w3.org/2001/XMLSchema" xmlns:p="http://schemas.microsoft.com/office/2006/metadata/properties" xmlns:ns2="abdc9a1f-962e-4235-838d-61f9c438f4db" xmlns:ns3="de47e97d-64fd-4aef-b10e-fd7d6cfcfcf4" targetNamespace="http://schemas.microsoft.com/office/2006/metadata/properties" ma:root="true" ma:fieldsID="e08abc5a48d6a537f3898ce91ef7d96d" ns2:_="" ns3:_="">
    <xsd:import namespace="abdc9a1f-962e-4235-838d-61f9c438f4db"/>
    <xsd:import namespace="de47e97d-64fd-4aef-b10e-fd7d6cfcfcf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c9a1f-962e-4235-838d-61f9c438f4d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47e97d-64fd-4aef-b10e-fd7d6cfcfcf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f96598e-1e7b-44ab-a102-458ae76ccdba}" ma:internalName="TaxCatchAll" ma:showField="CatchAllData" ma:web="de47e97d-64fd-4aef-b10e-fd7d6cfcfc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dc9a1f-962e-4235-838d-61f9c438f4db">
      <Terms xmlns="http://schemas.microsoft.com/office/infopath/2007/PartnerControls"/>
    </lcf76f155ced4ddcb4097134ff3c332f>
    <TaxCatchAll xmlns="de47e97d-64fd-4aef-b10e-fd7d6cfcfcf4" xsi:nil="true"/>
  </documentManagement>
</p:properties>
</file>

<file path=customXml/itemProps1.xml><?xml version="1.0" encoding="utf-8"?>
<ds:datastoreItem xmlns:ds="http://schemas.openxmlformats.org/officeDocument/2006/customXml" ds:itemID="{7422FA21-A9BA-49AC-B085-EFFA162663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bdc9a1f-962e-4235-838d-61f9c438f4db"/>
    <ds:schemaRef ds:uri="de47e97d-64fd-4aef-b10e-fd7d6cfcfcf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3.xml><?xml version="1.0" encoding="utf-8"?>
<ds:datastoreItem xmlns:ds="http://schemas.openxmlformats.org/officeDocument/2006/customXml" ds:itemID="{AA9C06E3-346E-408E-B352-32E922A070CE}">
  <ds:schemaRefs>
    <ds:schemaRef ds:uri="http://schemas.microsoft.com/office/2006/metadata/properties"/>
    <ds:schemaRef ds:uri="http://schemas.microsoft.com/office/infopath/2007/PartnerControls"/>
    <ds:schemaRef ds:uri="2347cc20-e10c-452d-848a-c18e83138525"/>
    <ds:schemaRef ds:uri="85c0ce47-fe9c-4809-bf88-519c39a738e6"/>
    <ds:schemaRef ds:uri="58c243a5-121d-4837-b81c-114e1b569ece"/>
    <ds:schemaRef ds:uri="77f18391-c91f-4725-9130-63caf76c1806"/>
    <ds:schemaRef ds:uri="abdc9a1f-962e-4235-838d-61f9c438f4db"/>
    <ds:schemaRef ds:uri="de47e97d-64fd-4aef-b10e-fd7d6cfcfcf4"/>
  </ds:schemaRefs>
</ds:datastoreItem>
</file>

<file path=docProps/app.xml><?xml version="1.0" encoding="utf-8"?>
<Properties xmlns="http://schemas.openxmlformats.org/officeDocument/2006/extended-properties" xmlns:vt="http://schemas.openxmlformats.org/officeDocument/2006/docPropsVTypes">
  <TotalTime>6130</TotalTime>
  <Words>1862</Words>
  <Application>Microsoft Office PowerPoint</Application>
  <PresentationFormat>Widescreen</PresentationFormat>
  <Paragraphs>139</Paragraphs>
  <Slides>11</Slides>
  <Notes>10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11</vt:i4>
      </vt:variant>
    </vt:vector>
  </HeadingPairs>
  <TitlesOfParts>
    <vt:vector size="19" baseType="lpstr">
      <vt:lpstr>Arial</vt:lpstr>
      <vt:lpstr>Calibri</vt:lpstr>
      <vt:lpstr>Stencil</vt:lpstr>
      <vt:lpstr>Wingdings</vt:lpstr>
      <vt:lpstr>Title</vt:lpstr>
      <vt:lpstr>Blank</vt:lpstr>
      <vt:lpstr>Speaker's slide</vt:lpstr>
      <vt:lpstr>Content</vt:lpstr>
      <vt:lpstr>Automate build testing and deployment of your PowerShell modules cross platform with Azure DevOps</vt:lpstr>
      <vt:lpstr>Many thanks to our sponsors:</vt:lpstr>
      <vt:lpstr>Mark Wragg</vt:lpstr>
      <vt:lpstr>Agenda</vt:lpstr>
      <vt:lpstr>What is Azure DevOps?</vt:lpstr>
      <vt:lpstr>Alternatives</vt:lpstr>
      <vt:lpstr>Disposable vs Durable code</vt:lpstr>
      <vt:lpstr>More important than ever</vt:lpstr>
      <vt:lpstr>A PowerShell build pipeline</vt:lpstr>
      <vt:lpstr>Demo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Mark Wragg</cp:lastModifiedBy>
  <cp:revision>2</cp:revision>
  <dcterms:created xsi:type="dcterms:W3CDTF">2024-03-26T13:08:23Z</dcterms:created>
  <dcterms:modified xsi:type="dcterms:W3CDTF">2026-10-12T19:59:09Z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0x010100333502FDC476714EB47BD1BE2BFD7B3D</vt:lpwstr>
  </property>
</Properties>
</file>